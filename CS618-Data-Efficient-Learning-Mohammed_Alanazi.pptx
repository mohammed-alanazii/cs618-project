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9"/>
    <p:restoredTop sz="96222"/>
  </p:normalViewPr>
  <p:slideViewPr>
    <p:cSldViewPr snapToGrid="0">
      <p:cViewPr>
        <p:scale>
          <a:sx n="140" d="100"/>
          <a:sy n="140" d="100"/>
        </p:scale>
        <p:origin x="143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3E50B9-31E8-4439-99BF-73E8272F320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7F887A-3429-42F6-A420-1D53321C28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Achieved 89.78% cross-subject accuracy using a compact ResCNN (~647K params) with segment-level majority voting.</a:t>
          </a:r>
          <a:endParaRPr lang="en-US"/>
        </a:p>
      </dgm:t>
    </dgm:pt>
    <dgm:pt modelId="{F488F30E-D160-4B9E-98C0-B4392EF17FF4}" type="parTrans" cxnId="{D7AFA32E-120E-412F-8E97-5BF2E92179C3}">
      <dgm:prSet/>
      <dgm:spPr/>
      <dgm:t>
        <a:bodyPr/>
        <a:lstStyle/>
        <a:p>
          <a:endParaRPr lang="en-US"/>
        </a:p>
      </dgm:t>
    </dgm:pt>
    <dgm:pt modelId="{687F00F7-0012-4853-865E-C1772ED6FDF7}" type="sibTrans" cxnId="{D7AFA32E-120E-412F-8E97-5BF2E92179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0566AC-51A9-497E-B0EE-EBC1CA2143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Majority voting boosted accuracy from 69.87% (window-level) to 89.78% (hard vote) — a 19.9 percentage point gain.</a:t>
          </a:r>
          <a:endParaRPr lang="en-US"/>
        </a:p>
      </dgm:t>
    </dgm:pt>
    <dgm:pt modelId="{180A8271-ED5B-45A7-8CEF-BEC642C5600C}" type="parTrans" cxnId="{60F20996-047F-4317-90C1-FFB887AD57EC}">
      <dgm:prSet/>
      <dgm:spPr/>
      <dgm:t>
        <a:bodyPr/>
        <a:lstStyle/>
        <a:p>
          <a:endParaRPr lang="en-US"/>
        </a:p>
      </dgm:t>
    </dgm:pt>
    <dgm:pt modelId="{028C7F62-F79E-4F18-B495-F83AE0132AC7}" type="sibTrans" cxnId="{60F20996-047F-4317-90C1-FFB887AD57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D9083DB-C3B4-4BEE-A70D-DEC97BDEE3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Compact architecture with data augmentation (mixup, Gaussian noise) and strong regularization (Dropout 0.5, BatchNorm) prevented overfitting on the small dataset (40 subjects).</a:t>
          </a:r>
          <a:endParaRPr lang="en-US"/>
        </a:p>
      </dgm:t>
    </dgm:pt>
    <dgm:pt modelId="{382A514C-267C-4ADB-B07E-3DE74366E42E}" type="parTrans" cxnId="{6E936A22-6C6A-4D07-A3AC-733D7318124C}">
      <dgm:prSet/>
      <dgm:spPr/>
      <dgm:t>
        <a:bodyPr/>
        <a:lstStyle/>
        <a:p>
          <a:endParaRPr lang="en-US"/>
        </a:p>
      </dgm:t>
    </dgm:pt>
    <dgm:pt modelId="{FBCFB874-4589-4B95-8472-DAB8E7C3330D}" type="sibTrans" cxnId="{6E936A22-6C6A-4D07-A3AC-733D731812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B53466-9F2A-4019-82F5-9BBC4B93A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Per-subject normalization and strict train/val/test subject separation ensured zero data leakage.</a:t>
          </a:r>
          <a:endParaRPr lang="en-US"/>
        </a:p>
      </dgm:t>
    </dgm:pt>
    <dgm:pt modelId="{CAA44F36-E1CD-4B7A-A249-55CCBA827C48}" type="parTrans" cxnId="{C74E25F2-974F-4607-B59C-F1C67D451D80}">
      <dgm:prSet/>
      <dgm:spPr/>
      <dgm:t>
        <a:bodyPr/>
        <a:lstStyle/>
        <a:p>
          <a:endParaRPr lang="en-US"/>
        </a:p>
      </dgm:t>
    </dgm:pt>
    <dgm:pt modelId="{CD8F2BE4-9720-4CDC-96FC-AF6756A613C9}" type="sibTrans" cxnId="{C74E25F2-974F-4607-B59C-F1C67D451D80}">
      <dgm:prSet/>
      <dgm:spPr/>
      <dgm:t>
        <a:bodyPr/>
        <a:lstStyle/>
        <a:p>
          <a:endParaRPr lang="en-US"/>
        </a:p>
      </dgm:t>
    </dgm:pt>
    <dgm:pt modelId="{E8778085-5907-4F3A-A62E-D97D71C77E2A}" type="pres">
      <dgm:prSet presAssocID="{573E50B9-31E8-4439-99BF-73E8272F320B}" presName="root" presStyleCnt="0">
        <dgm:presLayoutVars>
          <dgm:dir/>
          <dgm:resizeHandles val="exact"/>
        </dgm:presLayoutVars>
      </dgm:prSet>
      <dgm:spPr/>
    </dgm:pt>
    <dgm:pt modelId="{77EBDEC1-4C31-4125-9CE9-815DAFED2182}" type="pres">
      <dgm:prSet presAssocID="{573E50B9-31E8-4439-99BF-73E8272F320B}" presName="container" presStyleCnt="0">
        <dgm:presLayoutVars>
          <dgm:dir/>
          <dgm:resizeHandles val="exact"/>
        </dgm:presLayoutVars>
      </dgm:prSet>
      <dgm:spPr/>
    </dgm:pt>
    <dgm:pt modelId="{4F17DCD3-7980-492B-8542-EC1335996455}" type="pres">
      <dgm:prSet presAssocID="{E37F887A-3429-42F6-A420-1D53321C280B}" presName="compNode" presStyleCnt="0"/>
      <dgm:spPr/>
    </dgm:pt>
    <dgm:pt modelId="{5EF6F4DD-841D-4929-87CE-C638588B1F2B}" type="pres">
      <dgm:prSet presAssocID="{E37F887A-3429-42F6-A420-1D53321C280B}" presName="iconBgRect" presStyleLbl="bgShp" presStyleIdx="0" presStyleCnt="4"/>
      <dgm:spPr/>
    </dgm:pt>
    <dgm:pt modelId="{81561ED2-2DCB-45A3-97E8-5D4FE06EE450}" type="pres">
      <dgm:prSet presAssocID="{E37F887A-3429-42F6-A420-1D53321C280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9BA12C50-7E70-4C07-A798-A40518D285A6}" type="pres">
      <dgm:prSet presAssocID="{E37F887A-3429-42F6-A420-1D53321C280B}" presName="spaceRect" presStyleCnt="0"/>
      <dgm:spPr/>
    </dgm:pt>
    <dgm:pt modelId="{118F214E-AEAC-458C-BE44-6BE0B21742F7}" type="pres">
      <dgm:prSet presAssocID="{E37F887A-3429-42F6-A420-1D53321C280B}" presName="textRect" presStyleLbl="revTx" presStyleIdx="0" presStyleCnt="4">
        <dgm:presLayoutVars>
          <dgm:chMax val="1"/>
          <dgm:chPref val="1"/>
        </dgm:presLayoutVars>
      </dgm:prSet>
      <dgm:spPr/>
    </dgm:pt>
    <dgm:pt modelId="{9BCC9846-DD41-4575-B1C6-DE8494BD0A32}" type="pres">
      <dgm:prSet presAssocID="{687F00F7-0012-4853-865E-C1772ED6FDF7}" presName="sibTrans" presStyleLbl="sibTrans2D1" presStyleIdx="0" presStyleCnt="0"/>
      <dgm:spPr/>
    </dgm:pt>
    <dgm:pt modelId="{DA48B0B9-F174-443E-A843-68F3028CDA54}" type="pres">
      <dgm:prSet presAssocID="{710566AC-51A9-497E-B0EE-EBC1CA2143EF}" presName="compNode" presStyleCnt="0"/>
      <dgm:spPr/>
    </dgm:pt>
    <dgm:pt modelId="{75A9E4B4-02C5-4A7C-98E3-FE4944BEEB99}" type="pres">
      <dgm:prSet presAssocID="{710566AC-51A9-497E-B0EE-EBC1CA2143EF}" presName="iconBgRect" presStyleLbl="bgShp" presStyleIdx="1" presStyleCnt="4"/>
      <dgm:spPr/>
    </dgm:pt>
    <dgm:pt modelId="{39B71BA8-853C-498B-B864-6C06FE01839D}" type="pres">
      <dgm:prSet presAssocID="{710566AC-51A9-497E-B0EE-EBC1CA2143E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E0349EBB-B5C0-479F-8209-D4F6C0674912}" type="pres">
      <dgm:prSet presAssocID="{710566AC-51A9-497E-B0EE-EBC1CA2143EF}" presName="spaceRect" presStyleCnt="0"/>
      <dgm:spPr/>
    </dgm:pt>
    <dgm:pt modelId="{295176EB-3A35-4D1F-84CA-6775CB1AA386}" type="pres">
      <dgm:prSet presAssocID="{710566AC-51A9-497E-B0EE-EBC1CA2143EF}" presName="textRect" presStyleLbl="revTx" presStyleIdx="1" presStyleCnt="4">
        <dgm:presLayoutVars>
          <dgm:chMax val="1"/>
          <dgm:chPref val="1"/>
        </dgm:presLayoutVars>
      </dgm:prSet>
      <dgm:spPr/>
    </dgm:pt>
    <dgm:pt modelId="{A40F78D9-2A9B-4536-9E90-DA40CAFD0125}" type="pres">
      <dgm:prSet presAssocID="{028C7F62-F79E-4F18-B495-F83AE0132AC7}" presName="sibTrans" presStyleLbl="sibTrans2D1" presStyleIdx="0" presStyleCnt="0"/>
      <dgm:spPr/>
    </dgm:pt>
    <dgm:pt modelId="{44FF04FE-16AF-41DF-9C0E-884639A393B0}" type="pres">
      <dgm:prSet presAssocID="{8D9083DB-C3B4-4BEE-A70D-DEC97BDEE335}" presName="compNode" presStyleCnt="0"/>
      <dgm:spPr/>
    </dgm:pt>
    <dgm:pt modelId="{453293CD-9004-4E73-8A5A-92C4316073AF}" type="pres">
      <dgm:prSet presAssocID="{8D9083DB-C3B4-4BEE-A70D-DEC97BDEE335}" presName="iconBgRect" presStyleLbl="bgShp" presStyleIdx="2" presStyleCnt="4"/>
      <dgm:spPr/>
    </dgm:pt>
    <dgm:pt modelId="{F0B55DCF-07BB-426A-B9FD-F2C97A0D71C5}" type="pres">
      <dgm:prSet presAssocID="{8D9083DB-C3B4-4BEE-A70D-DEC97BDEE33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BB37689-7537-4ACF-97A3-78DD6CCAB5E8}" type="pres">
      <dgm:prSet presAssocID="{8D9083DB-C3B4-4BEE-A70D-DEC97BDEE335}" presName="spaceRect" presStyleCnt="0"/>
      <dgm:spPr/>
    </dgm:pt>
    <dgm:pt modelId="{508070C9-79FC-423D-9501-562B3BF73E13}" type="pres">
      <dgm:prSet presAssocID="{8D9083DB-C3B4-4BEE-A70D-DEC97BDEE335}" presName="textRect" presStyleLbl="revTx" presStyleIdx="2" presStyleCnt="4">
        <dgm:presLayoutVars>
          <dgm:chMax val="1"/>
          <dgm:chPref val="1"/>
        </dgm:presLayoutVars>
      </dgm:prSet>
      <dgm:spPr/>
    </dgm:pt>
    <dgm:pt modelId="{D2BEB28E-FCDC-4944-88D4-2C6F3A33F82B}" type="pres">
      <dgm:prSet presAssocID="{FBCFB874-4589-4B95-8472-DAB8E7C3330D}" presName="sibTrans" presStyleLbl="sibTrans2D1" presStyleIdx="0" presStyleCnt="0"/>
      <dgm:spPr/>
    </dgm:pt>
    <dgm:pt modelId="{E0209255-CF2E-4E19-AD3D-EDE3766075B4}" type="pres">
      <dgm:prSet presAssocID="{CCB53466-9F2A-4019-82F5-9BBC4B93AD49}" presName="compNode" presStyleCnt="0"/>
      <dgm:spPr/>
    </dgm:pt>
    <dgm:pt modelId="{AC5856C8-89E8-440C-A2B7-C67E36DF322C}" type="pres">
      <dgm:prSet presAssocID="{CCB53466-9F2A-4019-82F5-9BBC4B93AD49}" presName="iconBgRect" presStyleLbl="bgShp" presStyleIdx="3" presStyleCnt="4"/>
      <dgm:spPr/>
    </dgm:pt>
    <dgm:pt modelId="{459CD73C-2578-4C8E-A64F-E69E1D992258}" type="pres">
      <dgm:prSet presAssocID="{CCB53466-9F2A-4019-82F5-9BBC4B93AD4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7EE23025-A46C-4776-9774-2492E0595B24}" type="pres">
      <dgm:prSet presAssocID="{CCB53466-9F2A-4019-82F5-9BBC4B93AD49}" presName="spaceRect" presStyleCnt="0"/>
      <dgm:spPr/>
    </dgm:pt>
    <dgm:pt modelId="{038B7903-0DA1-4BC3-90B6-045E02D7E96A}" type="pres">
      <dgm:prSet presAssocID="{CCB53466-9F2A-4019-82F5-9BBC4B93AD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2F85A05-6ACE-0D44-AC59-CD7602761AC9}" type="presOf" srcId="{573E50B9-31E8-4439-99BF-73E8272F320B}" destId="{E8778085-5907-4F3A-A62E-D97D71C77E2A}" srcOrd="0" destOrd="0" presId="urn:microsoft.com/office/officeart/2018/2/layout/IconCircleList"/>
    <dgm:cxn modelId="{6E936A22-6C6A-4D07-A3AC-733D7318124C}" srcId="{573E50B9-31E8-4439-99BF-73E8272F320B}" destId="{8D9083DB-C3B4-4BEE-A70D-DEC97BDEE335}" srcOrd="2" destOrd="0" parTransId="{382A514C-267C-4ADB-B07E-3DE74366E42E}" sibTransId="{FBCFB874-4589-4B95-8472-DAB8E7C3330D}"/>
    <dgm:cxn modelId="{D7AFA32E-120E-412F-8E97-5BF2E92179C3}" srcId="{573E50B9-31E8-4439-99BF-73E8272F320B}" destId="{E37F887A-3429-42F6-A420-1D53321C280B}" srcOrd="0" destOrd="0" parTransId="{F488F30E-D160-4B9E-98C0-B4392EF17FF4}" sibTransId="{687F00F7-0012-4853-865E-C1772ED6FDF7}"/>
    <dgm:cxn modelId="{47295B49-632E-9649-96F2-F6BC1F2DE824}" type="presOf" srcId="{FBCFB874-4589-4B95-8472-DAB8E7C3330D}" destId="{D2BEB28E-FCDC-4944-88D4-2C6F3A33F82B}" srcOrd="0" destOrd="0" presId="urn:microsoft.com/office/officeart/2018/2/layout/IconCircleList"/>
    <dgm:cxn modelId="{17F00759-3B01-6A40-9F40-CD8953C5AC9C}" type="presOf" srcId="{CCB53466-9F2A-4019-82F5-9BBC4B93AD49}" destId="{038B7903-0DA1-4BC3-90B6-045E02D7E96A}" srcOrd="0" destOrd="0" presId="urn:microsoft.com/office/officeart/2018/2/layout/IconCircleList"/>
    <dgm:cxn modelId="{FB6A3A62-3C09-EB44-B74D-E91F81751A47}" type="presOf" srcId="{E37F887A-3429-42F6-A420-1D53321C280B}" destId="{118F214E-AEAC-458C-BE44-6BE0B21742F7}" srcOrd="0" destOrd="0" presId="urn:microsoft.com/office/officeart/2018/2/layout/IconCircleList"/>
    <dgm:cxn modelId="{1F01977B-EB33-2645-8FBD-0535A3221EB0}" type="presOf" srcId="{710566AC-51A9-497E-B0EE-EBC1CA2143EF}" destId="{295176EB-3A35-4D1F-84CA-6775CB1AA386}" srcOrd="0" destOrd="0" presId="urn:microsoft.com/office/officeart/2018/2/layout/IconCircleList"/>
    <dgm:cxn modelId="{60F20996-047F-4317-90C1-FFB887AD57EC}" srcId="{573E50B9-31E8-4439-99BF-73E8272F320B}" destId="{710566AC-51A9-497E-B0EE-EBC1CA2143EF}" srcOrd="1" destOrd="0" parTransId="{180A8271-ED5B-45A7-8CEF-BEC642C5600C}" sibTransId="{028C7F62-F79E-4F18-B495-F83AE0132AC7}"/>
    <dgm:cxn modelId="{165A24AD-BCFE-6A47-83DE-BA9AA637EFCC}" type="presOf" srcId="{028C7F62-F79E-4F18-B495-F83AE0132AC7}" destId="{A40F78D9-2A9B-4536-9E90-DA40CAFD0125}" srcOrd="0" destOrd="0" presId="urn:microsoft.com/office/officeart/2018/2/layout/IconCircleList"/>
    <dgm:cxn modelId="{BCC373B4-A416-CF4B-A455-B9D554478AEB}" type="presOf" srcId="{8D9083DB-C3B4-4BEE-A70D-DEC97BDEE335}" destId="{508070C9-79FC-423D-9501-562B3BF73E13}" srcOrd="0" destOrd="0" presId="urn:microsoft.com/office/officeart/2018/2/layout/IconCircleList"/>
    <dgm:cxn modelId="{F00338E6-42AD-844D-87CF-B795D44DD40F}" type="presOf" srcId="{687F00F7-0012-4853-865E-C1772ED6FDF7}" destId="{9BCC9846-DD41-4575-B1C6-DE8494BD0A32}" srcOrd="0" destOrd="0" presId="urn:microsoft.com/office/officeart/2018/2/layout/IconCircleList"/>
    <dgm:cxn modelId="{C74E25F2-974F-4607-B59C-F1C67D451D80}" srcId="{573E50B9-31E8-4439-99BF-73E8272F320B}" destId="{CCB53466-9F2A-4019-82F5-9BBC4B93AD49}" srcOrd="3" destOrd="0" parTransId="{CAA44F36-E1CD-4B7A-A249-55CCBA827C48}" sibTransId="{CD8F2BE4-9720-4CDC-96FC-AF6756A613C9}"/>
    <dgm:cxn modelId="{361DEA11-2458-704B-B1BC-DF2016AA9F82}" type="presParOf" srcId="{E8778085-5907-4F3A-A62E-D97D71C77E2A}" destId="{77EBDEC1-4C31-4125-9CE9-815DAFED2182}" srcOrd="0" destOrd="0" presId="urn:microsoft.com/office/officeart/2018/2/layout/IconCircleList"/>
    <dgm:cxn modelId="{880A6FDE-E4C2-EC46-812A-BD63EEF96F20}" type="presParOf" srcId="{77EBDEC1-4C31-4125-9CE9-815DAFED2182}" destId="{4F17DCD3-7980-492B-8542-EC1335996455}" srcOrd="0" destOrd="0" presId="urn:microsoft.com/office/officeart/2018/2/layout/IconCircleList"/>
    <dgm:cxn modelId="{6F85530A-27F5-4D4F-9DE7-03CE2D7DBAFF}" type="presParOf" srcId="{4F17DCD3-7980-492B-8542-EC1335996455}" destId="{5EF6F4DD-841D-4929-87CE-C638588B1F2B}" srcOrd="0" destOrd="0" presId="urn:microsoft.com/office/officeart/2018/2/layout/IconCircleList"/>
    <dgm:cxn modelId="{09D69F10-8B2E-8D44-80DF-606E44D8DCBF}" type="presParOf" srcId="{4F17DCD3-7980-492B-8542-EC1335996455}" destId="{81561ED2-2DCB-45A3-97E8-5D4FE06EE450}" srcOrd="1" destOrd="0" presId="urn:microsoft.com/office/officeart/2018/2/layout/IconCircleList"/>
    <dgm:cxn modelId="{6AC168D3-6960-C94A-A77F-DF843DE323ED}" type="presParOf" srcId="{4F17DCD3-7980-492B-8542-EC1335996455}" destId="{9BA12C50-7E70-4C07-A798-A40518D285A6}" srcOrd="2" destOrd="0" presId="urn:microsoft.com/office/officeart/2018/2/layout/IconCircleList"/>
    <dgm:cxn modelId="{CF3A2E15-9D73-6A48-8D6C-7B0FFE4605E8}" type="presParOf" srcId="{4F17DCD3-7980-492B-8542-EC1335996455}" destId="{118F214E-AEAC-458C-BE44-6BE0B21742F7}" srcOrd="3" destOrd="0" presId="urn:microsoft.com/office/officeart/2018/2/layout/IconCircleList"/>
    <dgm:cxn modelId="{471116A9-A88E-1A44-BD3C-7F235F720DA5}" type="presParOf" srcId="{77EBDEC1-4C31-4125-9CE9-815DAFED2182}" destId="{9BCC9846-DD41-4575-B1C6-DE8494BD0A32}" srcOrd="1" destOrd="0" presId="urn:microsoft.com/office/officeart/2018/2/layout/IconCircleList"/>
    <dgm:cxn modelId="{ACFD8BB3-32B1-224A-8087-490ED923ADAA}" type="presParOf" srcId="{77EBDEC1-4C31-4125-9CE9-815DAFED2182}" destId="{DA48B0B9-F174-443E-A843-68F3028CDA54}" srcOrd="2" destOrd="0" presId="urn:microsoft.com/office/officeart/2018/2/layout/IconCircleList"/>
    <dgm:cxn modelId="{31689C29-C4EB-C543-8EE5-9070A6007620}" type="presParOf" srcId="{DA48B0B9-F174-443E-A843-68F3028CDA54}" destId="{75A9E4B4-02C5-4A7C-98E3-FE4944BEEB99}" srcOrd="0" destOrd="0" presId="urn:microsoft.com/office/officeart/2018/2/layout/IconCircleList"/>
    <dgm:cxn modelId="{83F1948F-BBA1-5844-9404-B4BB2FF1A40D}" type="presParOf" srcId="{DA48B0B9-F174-443E-A843-68F3028CDA54}" destId="{39B71BA8-853C-498B-B864-6C06FE01839D}" srcOrd="1" destOrd="0" presId="urn:microsoft.com/office/officeart/2018/2/layout/IconCircleList"/>
    <dgm:cxn modelId="{0D0567E3-B405-D94A-A346-97AEC88B015F}" type="presParOf" srcId="{DA48B0B9-F174-443E-A843-68F3028CDA54}" destId="{E0349EBB-B5C0-479F-8209-D4F6C0674912}" srcOrd="2" destOrd="0" presId="urn:microsoft.com/office/officeart/2018/2/layout/IconCircleList"/>
    <dgm:cxn modelId="{B874DB6D-E8AA-5F41-8089-8A33D05E0108}" type="presParOf" srcId="{DA48B0B9-F174-443E-A843-68F3028CDA54}" destId="{295176EB-3A35-4D1F-84CA-6775CB1AA386}" srcOrd="3" destOrd="0" presId="urn:microsoft.com/office/officeart/2018/2/layout/IconCircleList"/>
    <dgm:cxn modelId="{A7E9276E-0963-134D-87A2-1EA003BB0568}" type="presParOf" srcId="{77EBDEC1-4C31-4125-9CE9-815DAFED2182}" destId="{A40F78D9-2A9B-4536-9E90-DA40CAFD0125}" srcOrd="3" destOrd="0" presId="urn:microsoft.com/office/officeart/2018/2/layout/IconCircleList"/>
    <dgm:cxn modelId="{13D44E56-93DD-C748-9897-0394A168F4CE}" type="presParOf" srcId="{77EBDEC1-4C31-4125-9CE9-815DAFED2182}" destId="{44FF04FE-16AF-41DF-9C0E-884639A393B0}" srcOrd="4" destOrd="0" presId="urn:microsoft.com/office/officeart/2018/2/layout/IconCircleList"/>
    <dgm:cxn modelId="{CB9B47EC-5173-8945-A4BC-70F8F8C26E7C}" type="presParOf" srcId="{44FF04FE-16AF-41DF-9C0E-884639A393B0}" destId="{453293CD-9004-4E73-8A5A-92C4316073AF}" srcOrd="0" destOrd="0" presId="urn:microsoft.com/office/officeart/2018/2/layout/IconCircleList"/>
    <dgm:cxn modelId="{A4AA5DC7-F3E0-6041-AFC5-868E32C22EC6}" type="presParOf" srcId="{44FF04FE-16AF-41DF-9C0E-884639A393B0}" destId="{F0B55DCF-07BB-426A-B9FD-F2C97A0D71C5}" srcOrd="1" destOrd="0" presId="urn:microsoft.com/office/officeart/2018/2/layout/IconCircleList"/>
    <dgm:cxn modelId="{56617705-50FB-B647-B750-10C8D1E254BF}" type="presParOf" srcId="{44FF04FE-16AF-41DF-9C0E-884639A393B0}" destId="{6BB37689-7537-4ACF-97A3-78DD6CCAB5E8}" srcOrd="2" destOrd="0" presId="urn:microsoft.com/office/officeart/2018/2/layout/IconCircleList"/>
    <dgm:cxn modelId="{2E2AA466-C6AD-C548-A20F-09A37C9354DC}" type="presParOf" srcId="{44FF04FE-16AF-41DF-9C0E-884639A393B0}" destId="{508070C9-79FC-423D-9501-562B3BF73E13}" srcOrd="3" destOrd="0" presId="urn:microsoft.com/office/officeart/2018/2/layout/IconCircleList"/>
    <dgm:cxn modelId="{ABC0D094-457B-4344-AED7-E5E664790108}" type="presParOf" srcId="{77EBDEC1-4C31-4125-9CE9-815DAFED2182}" destId="{D2BEB28E-FCDC-4944-88D4-2C6F3A33F82B}" srcOrd="5" destOrd="0" presId="urn:microsoft.com/office/officeart/2018/2/layout/IconCircleList"/>
    <dgm:cxn modelId="{133027C7-3910-4549-B519-102934E00109}" type="presParOf" srcId="{77EBDEC1-4C31-4125-9CE9-815DAFED2182}" destId="{E0209255-CF2E-4E19-AD3D-EDE3766075B4}" srcOrd="6" destOrd="0" presId="urn:microsoft.com/office/officeart/2018/2/layout/IconCircleList"/>
    <dgm:cxn modelId="{FD103319-6930-2443-8D15-58CD567D9972}" type="presParOf" srcId="{E0209255-CF2E-4E19-AD3D-EDE3766075B4}" destId="{AC5856C8-89E8-440C-A2B7-C67E36DF322C}" srcOrd="0" destOrd="0" presId="urn:microsoft.com/office/officeart/2018/2/layout/IconCircleList"/>
    <dgm:cxn modelId="{2A0617E3-FB19-7D46-B41E-C5CFF780EB00}" type="presParOf" srcId="{E0209255-CF2E-4E19-AD3D-EDE3766075B4}" destId="{459CD73C-2578-4C8E-A64F-E69E1D992258}" srcOrd="1" destOrd="0" presId="urn:microsoft.com/office/officeart/2018/2/layout/IconCircleList"/>
    <dgm:cxn modelId="{CAFD27A9-FC79-EC43-A293-D44FDEDD2C7F}" type="presParOf" srcId="{E0209255-CF2E-4E19-AD3D-EDE3766075B4}" destId="{7EE23025-A46C-4776-9774-2492E0595B24}" srcOrd="2" destOrd="0" presId="urn:microsoft.com/office/officeart/2018/2/layout/IconCircleList"/>
    <dgm:cxn modelId="{F46EDC74-E02D-3949-AB49-FB1EA2A7B8A0}" type="presParOf" srcId="{E0209255-CF2E-4E19-AD3D-EDE3766075B4}" destId="{038B7903-0DA1-4BC3-90B6-045E02D7E9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6F4DD-841D-4929-87CE-C638588B1F2B}">
      <dsp:nvSpPr>
        <dsp:cNvPr id="0" name=""/>
        <dsp:cNvSpPr/>
      </dsp:nvSpPr>
      <dsp:spPr>
        <a:xfrm>
          <a:off x="236088" y="457630"/>
          <a:ext cx="1348174" cy="13481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61ED2-2DCB-45A3-97E8-5D4FE06EE450}">
      <dsp:nvSpPr>
        <dsp:cNvPr id="0" name=""/>
        <dsp:cNvSpPr/>
      </dsp:nvSpPr>
      <dsp:spPr>
        <a:xfrm>
          <a:off x="519205" y="740747"/>
          <a:ext cx="781941" cy="7819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F214E-AEAC-458C-BE44-6BE0B21742F7}">
      <dsp:nvSpPr>
        <dsp:cNvPr id="0" name=""/>
        <dsp:cNvSpPr/>
      </dsp:nvSpPr>
      <dsp:spPr>
        <a:xfrm>
          <a:off x="1873157" y="457630"/>
          <a:ext cx="3177840" cy="1348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Achieved 89.78% cross-subject accuracy using a compact ResCNN (~647K params) with segment-level majority voting.</a:t>
          </a:r>
          <a:endParaRPr lang="en-US" sz="1500" kern="1200"/>
        </a:p>
      </dsp:txBody>
      <dsp:txXfrm>
        <a:off x="1873157" y="457630"/>
        <a:ext cx="3177840" cy="1348174"/>
      </dsp:txXfrm>
    </dsp:sp>
    <dsp:sp modelId="{75A9E4B4-02C5-4A7C-98E3-FE4944BEEB99}">
      <dsp:nvSpPr>
        <dsp:cNvPr id="0" name=""/>
        <dsp:cNvSpPr/>
      </dsp:nvSpPr>
      <dsp:spPr>
        <a:xfrm>
          <a:off x="5604712" y="457630"/>
          <a:ext cx="1348174" cy="13481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B71BA8-853C-498B-B864-6C06FE01839D}">
      <dsp:nvSpPr>
        <dsp:cNvPr id="0" name=""/>
        <dsp:cNvSpPr/>
      </dsp:nvSpPr>
      <dsp:spPr>
        <a:xfrm>
          <a:off x="5887828" y="740747"/>
          <a:ext cx="781941" cy="7819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176EB-3A35-4D1F-84CA-6775CB1AA386}">
      <dsp:nvSpPr>
        <dsp:cNvPr id="0" name=""/>
        <dsp:cNvSpPr/>
      </dsp:nvSpPr>
      <dsp:spPr>
        <a:xfrm>
          <a:off x="7241781" y="457630"/>
          <a:ext cx="3177840" cy="1348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Majority voting boosted accuracy from 69.87% (window-level) to 89.78% (hard vote) — a 19.9 percentage point gain.</a:t>
          </a:r>
          <a:endParaRPr lang="en-US" sz="1500" kern="1200"/>
        </a:p>
      </dsp:txBody>
      <dsp:txXfrm>
        <a:off x="7241781" y="457630"/>
        <a:ext cx="3177840" cy="1348174"/>
      </dsp:txXfrm>
    </dsp:sp>
    <dsp:sp modelId="{453293CD-9004-4E73-8A5A-92C4316073AF}">
      <dsp:nvSpPr>
        <dsp:cNvPr id="0" name=""/>
        <dsp:cNvSpPr/>
      </dsp:nvSpPr>
      <dsp:spPr>
        <a:xfrm>
          <a:off x="236088" y="2545532"/>
          <a:ext cx="1348174" cy="13481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55DCF-07BB-426A-B9FD-F2C97A0D71C5}">
      <dsp:nvSpPr>
        <dsp:cNvPr id="0" name=""/>
        <dsp:cNvSpPr/>
      </dsp:nvSpPr>
      <dsp:spPr>
        <a:xfrm>
          <a:off x="519205" y="2828649"/>
          <a:ext cx="781941" cy="7819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070C9-79FC-423D-9501-562B3BF73E13}">
      <dsp:nvSpPr>
        <dsp:cNvPr id="0" name=""/>
        <dsp:cNvSpPr/>
      </dsp:nvSpPr>
      <dsp:spPr>
        <a:xfrm>
          <a:off x="1873157" y="2545532"/>
          <a:ext cx="3177840" cy="1348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Compact architecture with data augmentation (mixup, Gaussian noise) and strong regularization (Dropout 0.5, BatchNorm) prevented overfitting on the small dataset (40 subjects).</a:t>
          </a:r>
          <a:endParaRPr lang="en-US" sz="1500" kern="1200"/>
        </a:p>
      </dsp:txBody>
      <dsp:txXfrm>
        <a:off x="1873157" y="2545532"/>
        <a:ext cx="3177840" cy="1348174"/>
      </dsp:txXfrm>
    </dsp:sp>
    <dsp:sp modelId="{AC5856C8-89E8-440C-A2B7-C67E36DF322C}">
      <dsp:nvSpPr>
        <dsp:cNvPr id="0" name=""/>
        <dsp:cNvSpPr/>
      </dsp:nvSpPr>
      <dsp:spPr>
        <a:xfrm>
          <a:off x="5604712" y="2545532"/>
          <a:ext cx="1348174" cy="13481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CD73C-2578-4C8E-A64F-E69E1D992258}">
      <dsp:nvSpPr>
        <dsp:cNvPr id="0" name=""/>
        <dsp:cNvSpPr/>
      </dsp:nvSpPr>
      <dsp:spPr>
        <a:xfrm>
          <a:off x="5887828" y="2828649"/>
          <a:ext cx="781941" cy="7819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B7903-0DA1-4BC3-90B6-045E02D7E96A}">
      <dsp:nvSpPr>
        <dsp:cNvPr id="0" name=""/>
        <dsp:cNvSpPr/>
      </dsp:nvSpPr>
      <dsp:spPr>
        <a:xfrm>
          <a:off x="7241781" y="2545532"/>
          <a:ext cx="3177840" cy="1348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Per-subject normalization and strict train/val/test subject separation ensured zero data leakage.</a:t>
          </a:r>
          <a:endParaRPr lang="en-US" sz="1500" kern="1200"/>
        </a:p>
      </dsp:txBody>
      <dsp:txXfrm>
        <a:off x="7241781" y="2545532"/>
        <a:ext cx="3177840" cy="1348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763D3-CF6A-9540-9F1D-1BA3E4F7256B}" type="datetimeFigureOut">
              <a:rPr lang="en-SA" smtClean="0"/>
              <a:t>12/05/2026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366BA-2D85-5249-B452-3CB89B086A3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21582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E15D-3B2A-8FCB-A6D9-07698671D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6493C-2CCE-E817-6425-8B9C882A6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D2493-3F3B-6EB1-3E81-004138B3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034B9-2270-81E2-8D2C-AFC2A399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1A314-4CB6-EF53-C4C2-064FB77D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6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1BDA-1486-07FC-C404-BF82E8BE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BB10-8436-AE08-748F-CD8CDC2C2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E5BF-A04E-9B88-B21C-1D5E0B68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91BAD-B380-1234-60FF-DAD5249A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590E4-BEFC-5475-DE23-B493C0C0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7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E56E-A962-1F2B-45F6-27A43777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85EB3-8E47-F185-9356-4AE8EC6C8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6DA78-9D02-9256-34A6-7A3789C2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3BE24-EC58-3E98-FC58-2E9A8BE6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48CC-4459-DF8D-D887-9409C886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3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92B8-F4FD-EE7E-EA44-85CCC1B9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3313-1B0E-440A-3CE3-E64C98DBD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4FFEF-0530-27FF-17AE-31BA24750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2D16B-DE55-AEEC-9268-4CBF8BCA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E4CBE-D332-F872-2C39-A0508004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E9DEC-0C37-2E3A-8348-D5F8A7AB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6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4ADF-2058-32BD-9CE7-D02D7095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7BADB-57C1-C2E1-7271-EB5E081B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C1EB4-EBD3-5E85-5902-B2C30E737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E9CE8E-963A-C142-ADB8-C436B31D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D9ABB-BF21-7214-BD9E-EB7097AE1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0A62B-2872-9FC2-7463-2B2FCE76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EA5FD-D701-B0CE-18B8-4282CA7C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5D71A-53EB-893D-C781-341C92A3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7F65-EABF-AF90-83E1-B20959E4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B32F3-218E-3ABB-2DCA-C6977CE4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8D3F5-6925-4D01-7352-3DD27B91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B3128-C37A-D6C9-0329-89DEE621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0FA46C-9C28-8FAF-A2D7-E4D30612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255C1-12CF-2AE9-87E1-7ABD344C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20456-934E-CE80-99D7-ACB033E0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DF1C-C397-26A5-6973-30C273EC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66C7A-00D4-1CAB-035F-B1FA2043A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F9BB4-4CA3-42FB-3251-700E1EBA3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4E1B6-146C-7A6B-B1BE-E2B1CBF2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6C341-F4DD-7C6C-C586-AE83934D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B271-FF72-1265-A18A-D21BBA8D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511B-6F53-07B7-F4B5-E4EF316E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153F7-1D85-00D8-34E1-85EA78C0E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82F90-39CB-FFEA-33AA-7BD8E25F2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1A128-7F37-6CE3-3B01-EEDEF792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2B45A-4454-D7B3-86A8-0C5D7279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C19E4-4223-071E-9C89-9F3DE578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0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2AD4-AE30-DA35-A308-5AAD1595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9D8C2-879B-E48D-F618-FDD2D8A56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FDBC9-47A6-106C-12A8-A722259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848C2-F819-D1DB-4EE3-4BB62962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F4F9-FC0E-27AA-D9BE-746031DD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7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14C03-45C9-84D3-CFA2-FED9CE9FA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3A565-0CE2-6C4D-F059-AFE2141C8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F882-22BB-0CA6-F902-A60A2412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1F83C-78C2-3395-95D9-06A5B529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C5F63-081F-2EB3-B75C-4316E677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6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08C5B-1E26-582D-2C7E-261AA819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6737B-004A-B16A-45E9-9EC37884F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3A56C-976E-86E8-7561-79C6B2312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937AE-DA37-361A-64F6-9972272C0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CA76F-6F96-ACE6-7EE9-096B02F94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7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955B-A40A-4DCF-4A6D-21276E4B6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4564" y="2235670"/>
            <a:ext cx="8956713" cy="220102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Data-Efficient Learning from EMG Signals for Hand Gesture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S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4453A-7A69-84C6-1391-7DD3C9DB2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8" y="4631161"/>
            <a:ext cx="8735275" cy="1569486"/>
          </a:xfrm>
        </p:spPr>
        <p:txBody>
          <a:bodyPr>
            <a:normAutofit fontScale="92500"/>
          </a:bodyPr>
          <a:lstStyle/>
          <a:p>
            <a:pPr algn="l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Course: CS618 – Advanced Robotics and Automation</a:t>
            </a:r>
          </a:p>
          <a:p>
            <a:pPr algn="l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Mohammed Mizan Alanazi</a:t>
            </a:r>
          </a:p>
          <a:p>
            <a:pPr algn="l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Supervisor: Prof. Yassine Bouteraa</a:t>
            </a:r>
          </a:p>
          <a:p>
            <a:pPr algn="l"/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S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2D25D-F481-A0E3-323C-256513447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225" b="51792"/>
          <a:stretch>
            <a:fillRect/>
          </a:stretch>
        </p:blipFill>
        <p:spPr>
          <a:xfrm>
            <a:off x="2914467" y="305689"/>
            <a:ext cx="4087368" cy="190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3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4EB2-D07F-420F-4746-DD52F895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9688-25B5-7A65-5BD1-67620DC9F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Aft>
                <a:spcPts val="400"/>
              </a:spcAft>
            </a:pPr>
            <a:r>
              <a:rPr sz="3200" b="1" dirty="0"/>
              <a:t>Background</a:t>
            </a:r>
          </a:p>
          <a:p>
            <a:pPr algn="l">
              <a:spcAft>
                <a:spcPts val="400"/>
              </a:spcAft>
            </a:pPr>
            <a:r>
              <a:rPr sz="2400" b="0" dirty="0"/>
              <a:t>What's Robotics</a:t>
            </a:r>
          </a:p>
          <a:p>
            <a:pPr algn="l">
              <a:spcAft>
                <a:spcPts val="400"/>
              </a:spcAft>
            </a:pPr>
            <a:r>
              <a:rPr sz="2400" b="0" dirty="0"/>
              <a:t>What's </a:t>
            </a:r>
            <a:r>
              <a:rPr sz="2400" b="0" dirty="0" err="1"/>
              <a:t>sEMG</a:t>
            </a:r>
            <a:endParaRPr sz="2400" b="0" dirty="0"/>
          </a:p>
          <a:p>
            <a:pPr algn="l">
              <a:spcAft>
                <a:spcPts val="400"/>
              </a:spcAft>
            </a:pPr>
            <a:r>
              <a:rPr sz="3200" b="1" dirty="0"/>
              <a:t>Methodology</a:t>
            </a:r>
          </a:p>
          <a:p>
            <a:pPr algn="l">
              <a:spcAft>
                <a:spcPts val="400"/>
              </a:spcAft>
            </a:pPr>
            <a:r>
              <a:rPr sz="2400" b="0" dirty="0" err="1"/>
              <a:t>ResCNN</a:t>
            </a:r>
            <a:endParaRPr sz="2400" b="0" dirty="0"/>
          </a:p>
          <a:p>
            <a:pPr algn="l">
              <a:spcAft>
                <a:spcPts val="400"/>
              </a:spcAft>
            </a:pPr>
            <a:r>
              <a:rPr sz="2400" b="0" dirty="0"/>
              <a:t>Why </a:t>
            </a:r>
            <a:r>
              <a:rPr sz="2400" b="0" dirty="0" err="1"/>
              <a:t>ResCNN</a:t>
            </a:r>
            <a:r>
              <a:rPr sz="2400" b="0" dirty="0"/>
              <a:t> and Segment-Level Majority Voting</a:t>
            </a:r>
          </a:p>
          <a:p>
            <a:pPr algn="l">
              <a:spcAft>
                <a:spcPts val="400"/>
              </a:spcAft>
            </a:pPr>
            <a:r>
              <a:rPr sz="3200" b="1" dirty="0"/>
              <a:t>Experimental Results</a:t>
            </a:r>
          </a:p>
          <a:p>
            <a:pPr algn="l">
              <a:spcAft>
                <a:spcPts val="400"/>
              </a:spcAft>
            </a:pPr>
            <a:r>
              <a:rPr sz="2400" b="0" dirty="0"/>
              <a:t>Dataset</a:t>
            </a:r>
          </a:p>
          <a:p>
            <a:pPr algn="l">
              <a:spcAft>
                <a:spcPts val="400"/>
              </a:spcAft>
            </a:pPr>
            <a:r>
              <a:rPr sz="2400" b="0" dirty="0"/>
              <a:t>Evaluation</a:t>
            </a:r>
          </a:p>
          <a:p>
            <a:pPr algn="l">
              <a:spcAft>
                <a:spcPts val="400"/>
              </a:spcAft>
            </a:pPr>
            <a:r>
              <a:rPr sz="32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01767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D84-9D5D-8785-4B6C-5685E3F8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/>
              <a:t>Background</a:t>
            </a:r>
          </a:p>
          <a:p>
            <a:pPr algn="l"/>
            <a:r>
              <a:rPr sz="2800" b="0"/>
              <a:t>What's Robotics?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167B-BA8E-8FB1-8F02-BEC94F567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4381" cy="4351338"/>
          </a:xfrm>
        </p:spPr>
        <p:txBody>
          <a:bodyPr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i="0" dirty="0"/>
              <a:t>Robotics integrates sensing, computation, and actuation to build machines that interact with the physical world.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1" i="0" dirty="0"/>
              <a:t>In Human-Robot Interaction (HRI):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Surface EMG (</a:t>
            </a:r>
            <a:r>
              <a:rPr sz="1600" b="0" i="0" dirty="0" err="1"/>
              <a:t>sEMG</a:t>
            </a:r>
            <a:r>
              <a:rPr sz="1600" b="0" i="0" dirty="0"/>
              <a:t>) signals from forearm muscles enable intuitive, non-invasive control of prosthetic hands and robotic manipulators.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A user simply performs a hand gesture → muscles generate electrical signals → EMG electrodes capture them → a machine learning classifier decodes the gesture → the robot responds.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1" i="0" dirty="0"/>
              <a:t>Goal of this project: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Build a cross-subject deep learning model that accurately classifies 5 hand gestures from 12-channel </a:t>
            </a:r>
            <a:r>
              <a:rPr sz="1600" b="0" i="0" dirty="0" err="1"/>
              <a:t>sEMG</a:t>
            </a:r>
            <a:r>
              <a:rPr sz="1600" b="0" i="0" dirty="0"/>
              <a:t> signals, generalizing to unseen subjects.</a:t>
            </a:r>
          </a:p>
        </p:txBody>
      </p:sp>
      <p:pic>
        <p:nvPicPr>
          <p:cNvPr id="1026" name="Picture 2" descr="EMG Controlled Robotic Arm For Arduino EMG Sensor Diy Kit School Science  STEM Education Physics Teaching - AliExpress 21">
            <a:extLst>
              <a:ext uri="{FF2B5EF4-FFF2-40B4-BE49-F238E27FC236}">
                <a16:creationId xmlns:a16="http://schemas.microsoft.com/office/drawing/2014/main" id="{71A955BA-6FDA-E496-04B5-EC21926D6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81" y="1112703"/>
            <a:ext cx="4632593" cy="463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78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CE75-9FA4-4CE1-32E4-4D1E6040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/>
              <a:t>Background</a:t>
            </a:r>
          </a:p>
          <a:p>
            <a:pPr algn="l"/>
            <a:r>
              <a:rPr sz="2800" b="0"/>
              <a:t>What's sEMG?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9C91-332F-56F6-1FCA-D352D7F47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80611" cy="4351338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i="0" dirty="0"/>
              <a:t>Surface Electromyography (</a:t>
            </a:r>
            <a:r>
              <a:rPr sz="1800" b="0" i="0" dirty="0" err="1"/>
              <a:t>sEMG</a:t>
            </a:r>
            <a:r>
              <a:rPr sz="1800" b="0" i="0" dirty="0"/>
              <a:t>) measures the electrical activity produced by skeletal muscles via non-invasive electrodes placed on the skin.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1" i="0" dirty="0"/>
              <a:t>Setup in this project: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12-channel </a:t>
            </a:r>
            <a:r>
              <a:rPr sz="1600" b="0" i="0" dirty="0" err="1"/>
              <a:t>Delsys</a:t>
            </a:r>
            <a:r>
              <a:rPr sz="1600" b="0" i="0" dirty="0"/>
              <a:t> </a:t>
            </a:r>
            <a:r>
              <a:rPr sz="1600" b="0" i="0" dirty="0" err="1"/>
              <a:t>Trigno</a:t>
            </a:r>
            <a:r>
              <a:rPr sz="1600" b="0" i="0" dirty="0"/>
              <a:t> electrodes placed around the forearm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Sampling rate: 2000 Hz — captures fine temporal muscle activation patterns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Each channel records a spatial view of muscle activation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1" i="0" dirty="0"/>
              <a:t>Preprocessing pipeline: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1. Bandpass filter (20–450 Hz) — removes motion artifacts &amp; high-frequency noise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2. Notch filter (50 Hz) — removes powerline interference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3. Per-subject Z-score normalization — prevents data leakage across subjects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50720"/>
            <a:ext cx="4754880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7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2C96-8A99-0A0B-91D7-46E9A110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/>
              <a:t>Methodology</a:t>
            </a:r>
            <a:endParaRPr lang="en-SA" sz="2800" dirty="0"/>
          </a:p>
          <a:p>
            <a:pPr algn="l"/>
            <a:r>
              <a:rPr sz="2800" b="0"/>
              <a:t>ResCNN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92292-E5FC-01C2-C5CE-951898939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57" y="1690688"/>
            <a:ext cx="6830457" cy="3850797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 dirty="0"/>
              <a:t>System Pipeline:</a:t>
            </a:r>
          </a:p>
          <a:p>
            <a:pPr algn="l">
              <a:spcAft>
                <a:spcPts val="600"/>
              </a:spcAft>
            </a:pPr>
            <a:r>
              <a:rPr sz="2200" b="0" i="1" dirty="0"/>
              <a:t>Raw EMG (12ch) → Bandpass + Notch → Z-score Norm → Sliding Windows (200pt, step=50) → </a:t>
            </a:r>
            <a:r>
              <a:rPr sz="2200" b="0" i="1" dirty="0" err="1"/>
              <a:t>ResCNN</a:t>
            </a:r>
            <a:r>
              <a:rPr sz="2200" b="0" i="1" dirty="0"/>
              <a:t> → </a:t>
            </a:r>
            <a:r>
              <a:rPr sz="2200" b="0" i="1" dirty="0" err="1"/>
              <a:t>Softmax</a:t>
            </a:r>
            <a:r>
              <a:rPr sz="2200" b="0" i="1" dirty="0"/>
              <a:t> → Majority Voting → Gesture Prediction</a:t>
            </a:r>
          </a:p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sz="2600" b="1" i="0" dirty="0" err="1"/>
              <a:t>ResCNN</a:t>
            </a:r>
            <a:r>
              <a:rPr sz="2600" b="1" i="0" dirty="0"/>
              <a:t> Design (3 Residual Blocks):</a:t>
            </a:r>
          </a:p>
          <a:p>
            <a:pPr>
              <a:spcAft>
                <a:spcPts val="600"/>
              </a:spcAft>
            </a:pPr>
            <a:r>
              <a:rPr sz="1700" b="0" i="0" dirty="0"/>
              <a:t>Stem: Conv1d(12→64, k=15) → </a:t>
            </a:r>
            <a:r>
              <a:rPr sz="1700" b="0" i="0" dirty="0" err="1"/>
              <a:t>BatchNorm</a:t>
            </a:r>
            <a:r>
              <a:rPr sz="1700" b="0" i="0" dirty="0"/>
              <a:t> → GELU → </a:t>
            </a:r>
            <a:r>
              <a:rPr sz="1700" b="0" i="0" dirty="0" err="1"/>
              <a:t>MaxPool</a:t>
            </a:r>
            <a:r>
              <a:rPr sz="1700" b="0" i="0" dirty="0"/>
              <a:t>(2)</a:t>
            </a:r>
          </a:p>
          <a:p>
            <a:pPr>
              <a:spcAft>
                <a:spcPts val="600"/>
              </a:spcAft>
            </a:pPr>
            <a:r>
              <a:rPr sz="1700" b="0" i="0" dirty="0"/>
              <a:t>Block 1: Conv(64→64, k=15) → BN → GELU → Conv(64→64) → BN → GELU → shortcut → </a:t>
            </a:r>
            <a:r>
              <a:rPr sz="1700" b="0" i="0" dirty="0" err="1"/>
              <a:t>MaxPool</a:t>
            </a:r>
            <a:r>
              <a:rPr sz="1700" b="0" i="0" dirty="0"/>
              <a:t>(2)</a:t>
            </a:r>
          </a:p>
          <a:p>
            <a:pPr>
              <a:spcAft>
                <a:spcPts val="600"/>
              </a:spcAft>
            </a:pPr>
            <a:r>
              <a:rPr sz="1700" b="0" i="0" dirty="0"/>
              <a:t>Block 2: Conv(64→128, k=7) → BN → GELU → Conv(128→128) → BN → GELU → shortcut → </a:t>
            </a:r>
            <a:r>
              <a:rPr sz="1700" b="0" i="0" dirty="0" err="1"/>
              <a:t>MaxPool</a:t>
            </a:r>
            <a:r>
              <a:rPr sz="1700" b="0" i="0" dirty="0"/>
              <a:t>(2)</a:t>
            </a:r>
          </a:p>
          <a:p>
            <a:pPr>
              <a:spcAft>
                <a:spcPts val="600"/>
              </a:spcAft>
            </a:pPr>
            <a:r>
              <a:rPr sz="1700" b="0" i="0" dirty="0"/>
              <a:t>Block 3: Conv(128→256, k=3) → BN → GELU → Conv(256→256) → BN → GELU → shortcut → </a:t>
            </a:r>
            <a:r>
              <a:rPr sz="1700" b="0" i="0" dirty="0" err="1"/>
              <a:t>MaxPool</a:t>
            </a:r>
            <a:r>
              <a:rPr sz="1700" b="0" i="0" dirty="0"/>
              <a:t>(2)</a:t>
            </a:r>
          </a:p>
          <a:p>
            <a:pPr>
              <a:spcAft>
                <a:spcPts val="600"/>
              </a:spcAft>
            </a:pPr>
            <a:r>
              <a:rPr sz="1700" b="0" i="0" dirty="0"/>
              <a:t>Head: </a:t>
            </a:r>
            <a:r>
              <a:rPr sz="1700" b="0" i="0" dirty="0" err="1"/>
              <a:t>AdaptiveAvgPool</a:t>
            </a:r>
            <a:r>
              <a:rPr sz="1700" b="0" i="0" dirty="0"/>
              <a:t>(1) → Dropout(0.5) → Linear(256→5)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b="0" i="1" dirty="0"/>
              <a:t>Total trainable parameters: ~647K.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184" y="1690688"/>
            <a:ext cx="49377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0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5039-3484-C41D-7584-0A700A93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/>
              <a:t>Methodology</a:t>
            </a:r>
          </a:p>
          <a:p>
            <a:pPr algn="l"/>
            <a:r>
              <a:rPr sz="2800" b="0"/>
              <a:t>Why ResCNN &amp; Segment-Level Majority Voting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E5B1A-5A2F-A288-F6BA-93350514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937"/>
            <a:ext cx="10515600" cy="2910832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 dirty="0"/>
              <a:t>Why a Simple </a:t>
            </a:r>
            <a:r>
              <a:rPr sz="1800" b="1" i="0" dirty="0" err="1"/>
              <a:t>ResCNN</a:t>
            </a:r>
            <a:r>
              <a:rPr sz="1800" b="1" i="0" dirty="0"/>
              <a:t>?</a:t>
            </a:r>
            <a:endParaRPr lang="en-S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600"/>
              </a:spcAft>
            </a:pPr>
            <a:r>
              <a:rPr sz="1600" b="0" i="0" dirty="0"/>
              <a:t>Only 40 subjects &amp; 5 classes — complex models (e.g., Transformers) would overfit </a:t>
            </a:r>
            <a:r>
              <a:rPr lang="en-US" sz="1600" b="0" i="0" dirty="0"/>
              <a:t>easily</a:t>
            </a:r>
            <a:r>
              <a:rPr sz="1600" b="0" i="0" dirty="0"/>
              <a:t>.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Residual connections allow gradient flow through 3 blocks while </a:t>
            </a:r>
            <a:r>
              <a:rPr sz="1600" b="0" i="0" dirty="0" err="1"/>
              <a:t>BatchNorm</a:t>
            </a:r>
            <a:r>
              <a:rPr sz="1600" b="0" i="0" dirty="0"/>
              <a:t> + GELU + Dropout(0.5) provide strong regularization.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Data augmentation: Gaussian noise (</a:t>
            </a:r>
            <a:r>
              <a:rPr sz="1600" b="0" i="0" dirty="0" err="1"/>
              <a:t>σ</a:t>
            </a:r>
            <a:r>
              <a:rPr sz="1600" b="0" i="0" dirty="0"/>
              <a:t>=0.03), adaptive </a:t>
            </a:r>
            <a:r>
              <a:rPr sz="1600" b="0" i="0" dirty="0" err="1"/>
              <a:t>Mixup</a:t>
            </a:r>
            <a:r>
              <a:rPr sz="1600" b="0" i="0" dirty="0"/>
              <a:t> (α=0.25→0.05→0 at epoch 50).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1" i="0" dirty="0"/>
              <a:t>Why Majority Voting?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Sliding windows overlap by 75% — adjacent windows see the same gesture segment. A single window-level prediction is noisy (~70% acc).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600" b="1" i="0" dirty="0"/>
              <a:t>Result:  ~70% window accuracy → ~90% segment-level accuracy after voting.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20" y="4342482"/>
            <a:ext cx="9055865" cy="25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2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ACB1-4465-5C20-4B17-0CD5F339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/>
              <a:t>Methodology</a:t>
            </a:r>
          </a:p>
          <a:p>
            <a:pPr algn="l"/>
            <a:r>
              <a:rPr sz="2800" b="0"/>
              <a:t>Dataset — NinaPro DB2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49FC3-5BAC-C209-C03B-28A382642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A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548640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 healthy individuals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 sEMG (Delsys Trigno)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Sampling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Selected Gestures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 (Rest, Fist, LargeGrasp, WristPron, Tripod)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Repetitions/Gesture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Train / Val /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 / 6 / 10 subjects (cross-subject)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5017729"/>
            <a:ext cx="1463040" cy="571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Rest (Class 0)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009949"/>
            <a:ext cx="1463040" cy="5871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3464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Fist (Class 1)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887938"/>
            <a:ext cx="1463040" cy="8311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LargeGrasp (Class 2)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001318"/>
            <a:ext cx="1463040" cy="6044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WristPron (Class 3)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4969042"/>
            <a:ext cx="1463040" cy="6689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0" y="6035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Tripod (Class 4)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1520507"/>
            <a:ext cx="5065776" cy="31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5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5916-9061-C9FD-E540-11543E3B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/>
              <a:t>Experimental Results</a:t>
            </a:r>
          </a:p>
          <a:p>
            <a:pPr algn="l"/>
            <a:r>
              <a:rPr sz="2800" b="0"/>
              <a:t>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3474720"/>
          <a:ext cx="54864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Window-Level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Hard Vote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Soft Vote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69.87%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89.78%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89.37%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0.6805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0.8316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0.8254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 Val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75.28% (epoch 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47" y="1828800"/>
            <a:ext cx="4887545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2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ACDC-EF39-18BF-D8B9-7D0B935B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Conclusion</a:t>
            </a:r>
            <a:endParaRPr lang="en-SA" sz="2800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F2220C4-02F9-A2AB-0754-4B1DBAE592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49107"/>
              </p:ext>
            </p:extLst>
          </p:nvPr>
        </p:nvGraphicFramePr>
        <p:xfrm>
          <a:off x="838200" y="1825625"/>
          <a:ext cx="1065571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560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9FBBEA-1C8D-9162-D105-889C668F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1" r="3714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EF653-B00C-53B0-DC17-F2173986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/>
              <a:t>Any Question</a:t>
            </a:r>
            <a:endParaRPr lang="en-SA" sz="4000" dirty="0"/>
          </a:p>
          <a:p>
            <a:endParaRPr lang="en-SA" sz="4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5856CC-E670-71E9-5593-D4634DDA8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69590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</TotalTime>
  <Words>774</Words>
  <Application>Microsoft Macintosh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Data-Efficient Learning from EMG Signals for Hand Gesture Recognition </vt:lpstr>
      <vt:lpstr>Outlines</vt:lpstr>
      <vt:lpstr>Background What's Robotics?</vt:lpstr>
      <vt:lpstr>Background What's sEMG?</vt:lpstr>
      <vt:lpstr>Methodology ResCNN Architecture</vt:lpstr>
      <vt:lpstr>Methodology Why ResCNN &amp; Segment-Level Majority Voting</vt:lpstr>
      <vt:lpstr>Methodology Dataset — NinaPro DB2</vt:lpstr>
      <vt:lpstr>Experimental Results Evaluation</vt:lpstr>
      <vt:lpstr>Conclusion</vt:lpstr>
      <vt:lpstr>Any Question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ميزان بن هليل العنزي</dc:creator>
  <cp:lastModifiedBy>محمد ميزان بن هليل العنزي</cp:lastModifiedBy>
  <cp:revision>7</cp:revision>
  <dcterms:created xsi:type="dcterms:W3CDTF">2026-03-29T07:43:36Z</dcterms:created>
  <dcterms:modified xsi:type="dcterms:W3CDTF">2026-05-12T16:56:41Z</dcterms:modified>
</cp:coreProperties>
</file>